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1645920"/>
            <a:ext cx="5943600" cy="4114800"/>
          </a:xfrm>
          <a:prstGeom prst="rect">
            <a:avLst/>
          </a:prstGeom>
          <a:noFill/>
        </p:spPr>
        <p:txBody>
          <a:bodyPr wrap="square" lIns="0" tIns="0">
            <a:spAutoFit/>
          </a:bodyPr>
          <a:lstStyle/>
          <a:p>
            <a:pPr>
              <a:defRPr sz="1100" b="1">
                <a:solidFill>
                  <a:srgbClr val="00F0FF"/>
                </a:solidFill>
                <a:latin typeface="Space Grotesk"/>
              </a:defRPr>
            </a:pPr>
            <a:r>
              <a:t>PROYECTO ACADÉMICO - TURBOMÁQUINAS</a:t>
            </a:r>
          </a:p>
          <a:p>
            <a:pPr>
              <a:spcBef>
                <a:spcPts val="1400"/>
              </a:spcBef>
              <a:spcAft>
                <a:spcPts val="1400"/>
              </a:spcAft>
              <a:defRPr sz="4000" b="1">
                <a:solidFill>
                  <a:srgbClr val="F5F6FA"/>
                </a:solidFill>
                <a:latin typeface="Space Grotesk"/>
              </a:defRPr>
            </a:pPr>
            <a:r>
              <a:t>Diseño de Ventilador</a:t>
            </a:r>
            <a:br/>
            <a:r>
              <a:t>Centrífugo Sirocco</a:t>
            </a:r>
          </a:p>
          <a:p>
            <a:pPr>
              <a:defRPr sz="1400">
                <a:solidFill>
                  <a:srgbClr val="9AA0B0"/>
                </a:solidFill>
                <a:latin typeface="Arial"/>
              </a:defRPr>
            </a:pPr>
            <a:r>
              <a:t>Dimensionamiento reproducible, triangulación de velocidades y modelado técnico de un ventilador multialabe de doble ancho para aire limpio.</a:t>
            </a:r>
          </a:p>
          <a:p>
            <a:pPr>
              <a:spcBef>
                <a:spcPts val="2800"/>
              </a:spcBef>
              <a:defRPr sz="1200" b="1">
                <a:solidFill>
                  <a:srgbClr val="FF6B00"/>
                </a:solidFill>
                <a:latin typeface="Space Grotesk"/>
              </a:defRPr>
            </a:pPr>
            <a:r>
              <a:t>Desarrollado por: Grupo 2</a:t>
            </a:r>
            <a:br/>
            <a:r>
              <a:t>Revisión: Versión V1 (Cierre Unidimensional)</a:t>
            </a:r>
          </a:p>
        </p:txBody>
      </p:sp>
      <p:pic>
        <p:nvPicPr>
          <p:cNvPr id="3" name="Picture 2" descr="sirocco_fan_render.jpg"/>
          <p:cNvPicPr>
            <a:picLocks noChangeAspect="1"/>
          </p:cNvPicPr>
          <p:nvPr/>
        </p:nvPicPr>
        <p:blipFill>
          <a:blip r:embed="rId2"/>
          <a:stretch>
            <a:fillRect/>
          </a:stretch>
        </p:blipFill>
        <p:spPr>
          <a:xfrm>
            <a:off x="6858000" y="1371600"/>
            <a:ext cx="4572000" cy="4114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457200"/>
            <a:ext cx="10817352" cy="1371600"/>
          </a:xfrm>
          <a:prstGeom prst="rect">
            <a:avLst/>
          </a:prstGeom>
          <a:noFill/>
        </p:spPr>
        <p:txBody>
          <a:bodyPr wrap="square" lIns="0" tIns="0" rIns="0" bIns="0">
            <a:spAutoFit/>
          </a:bodyPr>
          <a:lstStyle/>
          <a:p>
            <a:pPr>
              <a:defRPr sz="1000" b="1">
                <a:solidFill>
                  <a:srgbClr val="00F0FF"/>
                </a:solidFill>
                <a:latin typeface="Space Grotesk"/>
              </a:defRPr>
            </a:pPr>
            <a:r>
              <a:t>REQUERIMIENTOS DE DISEÑO</a:t>
            </a:r>
          </a:p>
          <a:p>
            <a:pPr>
              <a:spcBef>
                <a:spcPts val="400"/>
              </a:spcBef>
              <a:defRPr sz="2800" b="1">
                <a:solidFill>
                  <a:srgbClr val="F5F6FA"/>
                </a:solidFill>
                <a:latin typeface="Space Grotesk"/>
              </a:defRPr>
            </a:pPr>
            <a:r>
              <a:t>Parámetros de Entrada y Configuración</a:t>
            </a:r>
          </a:p>
          <a:p>
            <a:pPr>
              <a:spcBef>
                <a:spcPts val="400"/>
              </a:spcBef>
              <a:defRPr sz="1300">
                <a:solidFill>
                  <a:srgbClr val="9AA0B0"/>
                </a:solidFill>
                <a:latin typeface="Arial"/>
              </a:defRPr>
            </a:pPr>
            <a:r>
              <a:t>Punto de operación establecido para el dimensionamiento del sistema.</a:t>
            </a:r>
          </a:p>
        </p:txBody>
      </p:sp>
      <p:sp>
        <p:nvSpPr>
          <p:cNvPr id="3" name="Rounded Rectangle 2"/>
          <p:cNvSpPr/>
          <p:nvPr/>
        </p:nvSpPr>
        <p:spPr>
          <a:xfrm>
            <a:off x="685800" y="1828800"/>
            <a:ext cx="3291840" cy="137160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3291840" cy="1371600"/>
          </a:xfrm>
          <a:prstGeom prst="rect">
            <a:avLst/>
          </a:prstGeom>
          <a:noFill/>
        </p:spPr>
        <p:txBody>
          <a:bodyPr wrap="square" lIns="164592" tIns="164592">
            <a:spAutoFit/>
          </a:bodyPr>
          <a:lstStyle/>
          <a:p>
            <a:pPr>
              <a:defRPr sz="1000" b="1">
                <a:solidFill>
                  <a:srgbClr val="9AA0B0"/>
                </a:solidFill>
                <a:latin typeface="Arial"/>
              </a:defRPr>
            </a:pPr>
            <a:r>
              <a:t>CAUDAL SOLICITADO (Q)</a:t>
            </a:r>
          </a:p>
          <a:p>
            <a:pPr>
              <a:spcBef>
                <a:spcPts val="600"/>
              </a:spcBef>
              <a:defRPr sz="2400" b="1">
                <a:solidFill>
                  <a:srgbClr val="00F0FF"/>
                </a:solidFill>
                <a:latin typeface="Space Grotesk"/>
              </a:defRPr>
            </a:pPr>
            <a:r>
              <a:t>3.0 m³/s</a:t>
            </a:r>
          </a:p>
        </p:txBody>
      </p:sp>
      <p:sp>
        <p:nvSpPr>
          <p:cNvPr id="5" name="Rounded Rectangle 4"/>
          <p:cNvSpPr/>
          <p:nvPr/>
        </p:nvSpPr>
        <p:spPr>
          <a:xfrm>
            <a:off x="4206240" y="1828800"/>
            <a:ext cx="3291840" cy="137160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0" y="1828800"/>
            <a:ext cx="3291840" cy="1371600"/>
          </a:xfrm>
          <a:prstGeom prst="rect">
            <a:avLst/>
          </a:prstGeom>
          <a:noFill/>
        </p:spPr>
        <p:txBody>
          <a:bodyPr wrap="square" lIns="164592" tIns="164592">
            <a:spAutoFit/>
          </a:bodyPr>
          <a:lstStyle/>
          <a:p>
            <a:pPr>
              <a:defRPr sz="1000" b="1">
                <a:solidFill>
                  <a:srgbClr val="9AA0B0"/>
                </a:solidFill>
                <a:latin typeface="Arial"/>
              </a:defRPr>
            </a:pPr>
            <a:r>
              <a:t>PRESIÓN ESTÁTICA (ΔP_S)</a:t>
            </a:r>
          </a:p>
          <a:p>
            <a:pPr>
              <a:spcBef>
                <a:spcPts val="600"/>
              </a:spcBef>
              <a:defRPr sz="2400" b="1">
                <a:solidFill>
                  <a:srgbClr val="00F0FF"/>
                </a:solidFill>
                <a:latin typeface="Space Grotesk"/>
              </a:defRPr>
            </a:pPr>
            <a:r>
              <a:t>90 mmH₂O</a:t>
            </a:r>
          </a:p>
        </p:txBody>
      </p:sp>
      <p:sp>
        <p:nvSpPr>
          <p:cNvPr id="7" name="Rounded Rectangle 6"/>
          <p:cNvSpPr/>
          <p:nvPr/>
        </p:nvSpPr>
        <p:spPr>
          <a:xfrm>
            <a:off x="7726679" y="1828800"/>
            <a:ext cx="3749039" cy="137160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828800"/>
            <a:ext cx="3749039" cy="1371600"/>
          </a:xfrm>
          <a:prstGeom prst="rect">
            <a:avLst/>
          </a:prstGeom>
          <a:noFill/>
        </p:spPr>
        <p:txBody>
          <a:bodyPr wrap="square" lIns="164592" tIns="164592">
            <a:spAutoFit/>
          </a:bodyPr>
          <a:lstStyle/>
          <a:p>
            <a:pPr>
              <a:defRPr sz="1000" b="1">
                <a:solidFill>
                  <a:srgbClr val="9AA0B0"/>
                </a:solidFill>
                <a:latin typeface="Arial"/>
              </a:defRPr>
            </a:pPr>
            <a:r>
              <a:t>DENSIDAD DE DISEÑO (Ρ)</a:t>
            </a:r>
          </a:p>
          <a:p>
            <a:pPr>
              <a:spcBef>
                <a:spcPts val="600"/>
              </a:spcBef>
              <a:defRPr sz="2400" b="1">
                <a:solidFill>
                  <a:srgbClr val="00F0FF"/>
                </a:solidFill>
                <a:latin typeface="Space Grotesk"/>
              </a:defRPr>
            </a:pPr>
            <a:r>
              <a:t>1.20 kg/m³</a:t>
            </a:r>
          </a:p>
        </p:txBody>
      </p:sp>
      <p:sp>
        <p:nvSpPr>
          <p:cNvPr id="9" name="Rounded Rectangle 8"/>
          <p:cNvSpPr/>
          <p:nvPr/>
        </p:nvSpPr>
        <p:spPr>
          <a:xfrm>
            <a:off x="685800" y="3566160"/>
            <a:ext cx="10789920" cy="2560320"/>
          </a:xfrm>
          <a:prstGeom prst="roundRect">
            <a:avLst/>
          </a:prstGeom>
          <a:solidFill>
            <a:srgbClr val="1A1D26"/>
          </a:solidFill>
          <a:ln>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00F0FF"/>
                </a:solidFill>
                <a:latin typeface="Space Grotesk"/>
              </a:defRPr>
            </a:pPr>
            <a:r>
              <a:t>JUSTIFICACIÓN DE LA SELECCIÓN DE DOBLE ENTRADA (DIDW)</a:t>
            </a:r>
          </a:p>
          <a:p>
            <a:pPr>
              <a:spcBef>
                <a:spcPts val="800"/>
              </a:spcBef>
              <a:defRPr sz="1200">
                <a:solidFill>
                  <a:srgbClr val="9AA0B0"/>
                </a:solidFill>
                <a:latin typeface="Arial"/>
              </a:defRPr>
            </a:pPr>
            <a:r>
              <a:t>• Un caudal de 3.0 m³/s (10,800 m³/h) es elevado para un ventilador de entrada simple (SISW), lo que obligaría a diseñar un rodete con un ojo de succión sobredimensionado o a tolerar velocidades axiales muy altas.</a:t>
            </a:r>
            <a:br/>
            <a:r>
              <a:t>• Al seleccionar un rodete de doble ancho y doble entrada (DIDW), el flujo de entrada se divide equitativamente (1.5 m³/s por cada succión), reduciendo la velocidad axial en el ojo a un valor óptimo de ~7.77 m/s.</a:t>
            </a:r>
            <a:br/>
            <a:r>
              <a:t>• Esto minimiza las pérdidas por choque aerodinámico en la entrada de los álabes, mejora la eficiencia estática del rodete y disminuye significativamente la emisión de ruido tonal.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457200"/>
            <a:ext cx="10817352" cy="1371600"/>
          </a:xfrm>
          <a:prstGeom prst="rect">
            <a:avLst/>
          </a:prstGeom>
          <a:noFill/>
        </p:spPr>
        <p:txBody>
          <a:bodyPr wrap="square" lIns="0" tIns="0" rIns="0" bIns="0">
            <a:spAutoFit/>
          </a:bodyPr>
          <a:lstStyle/>
          <a:p>
            <a:pPr>
              <a:defRPr sz="1000" b="1">
                <a:solidFill>
                  <a:srgbClr val="00F0FF"/>
                </a:solidFill>
                <a:latin typeface="Space Grotesk"/>
              </a:defRPr>
            </a:pPr>
            <a:r>
              <a:t>GEOMETRÍA DEL ROTOR</a:t>
            </a:r>
          </a:p>
          <a:p>
            <a:pPr>
              <a:spcBef>
                <a:spcPts val="400"/>
              </a:spcBef>
              <a:defRPr sz="2800" b="1">
                <a:solidFill>
                  <a:srgbClr val="F5F6FA"/>
                </a:solidFill>
                <a:latin typeface="Space Grotesk"/>
              </a:defRPr>
            </a:pPr>
            <a:r>
              <a:t>Especificación del Rodete Sirocco V1</a:t>
            </a:r>
          </a:p>
          <a:p>
            <a:pPr>
              <a:spcBef>
                <a:spcPts val="400"/>
              </a:spcBef>
              <a:defRPr sz="1300">
                <a:solidFill>
                  <a:srgbClr val="9AA0B0"/>
                </a:solidFill>
                <a:latin typeface="Arial"/>
              </a:defRPr>
            </a:pPr>
            <a:r>
              <a:t>Parámetros geométricos para modelado 3D y planos de fabricación.</a:t>
            </a:r>
          </a:p>
        </p:txBody>
      </p:sp>
      <p:sp>
        <p:nvSpPr>
          <p:cNvPr id="3" name="Rounded Rectangle 2"/>
          <p:cNvSpPr/>
          <p:nvPr/>
        </p:nvSpPr>
        <p:spPr>
          <a:xfrm>
            <a:off x="685800" y="182880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2468880" cy="1005840"/>
          </a:xfrm>
          <a:prstGeom prst="rect">
            <a:avLst/>
          </a:prstGeom>
          <a:noFill/>
        </p:spPr>
        <p:txBody>
          <a:bodyPr wrap="square" lIns="164592" tIns="164592">
            <a:spAutoFit/>
          </a:bodyPr>
          <a:lstStyle/>
          <a:p>
            <a:pPr>
              <a:defRPr sz="1000" b="1">
                <a:solidFill>
                  <a:srgbClr val="9AA0B0"/>
                </a:solidFill>
                <a:latin typeface="Arial"/>
              </a:defRPr>
            </a:pPr>
            <a:r>
              <a:t>DIÁMETRO EXT (D₂)</a:t>
            </a:r>
          </a:p>
          <a:p>
            <a:pPr>
              <a:spcBef>
                <a:spcPts val="600"/>
              </a:spcBef>
              <a:defRPr sz="2400" b="1">
                <a:solidFill>
                  <a:srgbClr val="00F0FF"/>
                </a:solidFill>
                <a:latin typeface="Space Grotesk"/>
              </a:defRPr>
            </a:pPr>
            <a:r>
              <a:t>600 mm</a:t>
            </a:r>
          </a:p>
        </p:txBody>
      </p:sp>
      <p:sp>
        <p:nvSpPr>
          <p:cNvPr id="5" name="Rounded Rectangle 4"/>
          <p:cNvSpPr/>
          <p:nvPr/>
        </p:nvSpPr>
        <p:spPr>
          <a:xfrm>
            <a:off x="3337560" y="182880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37560" y="1828800"/>
            <a:ext cx="2468880" cy="1005840"/>
          </a:xfrm>
          <a:prstGeom prst="rect">
            <a:avLst/>
          </a:prstGeom>
          <a:noFill/>
        </p:spPr>
        <p:txBody>
          <a:bodyPr wrap="square" lIns="164592" tIns="164592">
            <a:spAutoFit/>
          </a:bodyPr>
          <a:lstStyle/>
          <a:p>
            <a:pPr>
              <a:defRPr sz="1000" b="1">
                <a:solidFill>
                  <a:srgbClr val="9AA0B0"/>
                </a:solidFill>
                <a:latin typeface="Arial"/>
              </a:defRPr>
            </a:pPr>
            <a:r>
              <a:t>DIÁMETRO INT (D₁)</a:t>
            </a:r>
          </a:p>
          <a:p>
            <a:pPr>
              <a:spcBef>
                <a:spcPts val="600"/>
              </a:spcBef>
              <a:defRPr sz="2400" b="1">
                <a:solidFill>
                  <a:srgbClr val="00F0FF"/>
                </a:solidFill>
                <a:latin typeface="Space Grotesk"/>
              </a:defRPr>
            </a:pPr>
            <a:r>
              <a:t>510 mm</a:t>
            </a:r>
          </a:p>
        </p:txBody>
      </p:sp>
      <p:sp>
        <p:nvSpPr>
          <p:cNvPr id="7" name="Rounded Rectangle 6"/>
          <p:cNvSpPr/>
          <p:nvPr/>
        </p:nvSpPr>
        <p:spPr>
          <a:xfrm>
            <a:off x="685800" y="301752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017520"/>
            <a:ext cx="2468880" cy="1005840"/>
          </a:xfrm>
          <a:prstGeom prst="rect">
            <a:avLst/>
          </a:prstGeom>
          <a:noFill/>
        </p:spPr>
        <p:txBody>
          <a:bodyPr wrap="square" lIns="164592" tIns="164592">
            <a:spAutoFit/>
          </a:bodyPr>
          <a:lstStyle/>
          <a:p>
            <a:pPr>
              <a:defRPr sz="1000" b="1">
                <a:solidFill>
                  <a:srgbClr val="9AA0B0"/>
                </a:solidFill>
                <a:latin typeface="Arial"/>
              </a:defRPr>
            </a:pPr>
            <a:r>
              <a:t>ANCHO RODETE (B)</a:t>
            </a:r>
          </a:p>
          <a:p>
            <a:pPr>
              <a:spcBef>
                <a:spcPts val="600"/>
              </a:spcBef>
              <a:defRPr sz="2400" b="1">
                <a:solidFill>
                  <a:srgbClr val="00F0FF"/>
                </a:solidFill>
                <a:latin typeface="Space Grotesk"/>
              </a:defRPr>
            </a:pPr>
            <a:r>
              <a:t>230 mm</a:t>
            </a:r>
          </a:p>
        </p:txBody>
      </p:sp>
      <p:sp>
        <p:nvSpPr>
          <p:cNvPr id="9" name="Rounded Rectangle 8"/>
          <p:cNvSpPr/>
          <p:nvPr/>
        </p:nvSpPr>
        <p:spPr>
          <a:xfrm>
            <a:off x="3337560" y="301752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3017520"/>
            <a:ext cx="2468880" cy="1005840"/>
          </a:xfrm>
          <a:prstGeom prst="rect">
            <a:avLst/>
          </a:prstGeom>
          <a:noFill/>
        </p:spPr>
        <p:txBody>
          <a:bodyPr wrap="square" lIns="164592" tIns="164592">
            <a:spAutoFit/>
          </a:bodyPr>
          <a:lstStyle/>
          <a:p>
            <a:pPr>
              <a:defRPr sz="1000" b="1">
                <a:solidFill>
                  <a:srgbClr val="9AA0B0"/>
                </a:solidFill>
                <a:latin typeface="Arial"/>
              </a:defRPr>
            </a:pPr>
            <a:r>
              <a:t>NÚMERO ÁLABES (Z)</a:t>
            </a:r>
          </a:p>
          <a:p>
            <a:pPr>
              <a:spcBef>
                <a:spcPts val="600"/>
              </a:spcBef>
              <a:defRPr sz="2400" b="1">
                <a:solidFill>
                  <a:srgbClr val="00F0FF"/>
                </a:solidFill>
                <a:latin typeface="Space Grotesk"/>
              </a:defRPr>
            </a:pPr>
            <a:r>
              <a:t>48 álabes</a:t>
            </a:r>
          </a:p>
        </p:txBody>
      </p:sp>
      <p:sp>
        <p:nvSpPr>
          <p:cNvPr id="11" name="Rounded Rectangle 10"/>
          <p:cNvSpPr/>
          <p:nvPr/>
        </p:nvSpPr>
        <p:spPr>
          <a:xfrm>
            <a:off x="685800" y="420624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206240"/>
            <a:ext cx="2468880" cy="1005840"/>
          </a:xfrm>
          <a:prstGeom prst="rect">
            <a:avLst/>
          </a:prstGeom>
          <a:noFill/>
        </p:spPr>
        <p:txBody>
          <a:bodyPr wrap="square" lIns="164592" tIns="164592">
            <a:spAutoFit/>
          </a:bodyPr>
          <a:lstStyle/>
          <a:p>
            <a:pPr>
              <a:defRPr sz="1000" b="1">
                <a:solidFill>
                  <a:srgbClr val="9AA0B0"/>
                </a:solidFill>
                <a:latin typeface="Arial"/>
              </a:defRPr>
            </a:pPr>
            <a:r>
              <a:t>ÁNGULO SALIDA (Β₂)</a:t>
            </a:r>
          </a:p>
          <a:p>
            <a:pPr>
              <a:spcBef>
                <a:spcPts val="600"/>
              </a:spcBef>
              <a:defRPr sz="2400" b="1">
                <a:solidFill>
                  <a:srgbClr val="00F0FF"/>
                </a:solidFill>
                <a:latin typeface="Space Grotesk"/>
              </a:defRPr>
            </a:pPr>
            <a:r>
              <a:t>125 °</a:t>
            </a:r>
          </a:p>
        </p:txBody>
      </p:sp>
      <p:sp>
        <p:nvSpPr>
          <p:cNvPr id="13" name="Rounded Rectangle 12"/>
          <p:cNvSpPr/>
          <p:nvPr/>
        </p:nvSpPr>
        <p:spPr>
          <a:xfrm>
            <a:off x="3337560" y="420624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4206240"/>
            <a:ext cx="2468880" cy="1005840"/>
          </a:xfrm>
          <a:prstGeom prst="rect">
            <a:avLst/>
          </a:prstGeom>
          <a:noFill/>
        </p:spPr>
        <p:txBody>
          <a:bodyPr wrap="square" lIns="164592" tIns="164592">
            <a:spAutoFit/>
          </a:bodyPr>
          <a:lstStyle/>
          <a:p>
            <a:pPr>
              <a:defRPr sz="1000" b="1">
                <a:solidFill>
                  <a:srgbClr val="9AA0B0"/>
                </a:solidFill>
                <a:latin typeface="Arial"/>
              </a:defRPr>
            </a:pPr>
            <a:r>
              <a:t>ÁNGULO ENTRADA (Β₁)</a:t>
            </a:r>
          </a:p>
          <a:p>
            <a:pPr>
              <a:spcBef>
                <a:spcPts val="600"/>
              </a:spcBef>
              <a:defRPr sz="2400" b="1">
                <a:solidFill>
                  <a:srgbClr val="00F0FF"/>
                </a:solidFill>
                <a:latin typeface="Space Grotesk"/>
              </a:defRPr>
            </a:pPr>
            <a:r>
              <a:t>18 °</a:t>
            </a:r>
          </a:p>
        </p:txBody>
      </p:sp>
      <p:sp>
        <p:nvSpPr>
          <p:cNvPr id="15" name="Rounded Rectangle 14"/>
          <p:cNvSpPr/>
          <p:nvPr/>
        </p:nvSpPr>
        <p:spPr>
          <a:xfrm>
            <a:off x="685800" y="539496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394960"/>
            <a:ext cx="2468880" cy="1005840"/>
          </a:xfrm>
          <a:prstGeom prst="rect">
            <a:avLst/>
          </a:prstGeom>
          <a:noFill/>
        </p:spPr>
        <p:txBody>
          <a:bodyPr wrap="square" lIns="164592" tIns="164592">
            <a:spAutoFit/>
          </a:bodyPr>
          <a:lstStyle/>
          <a:p>
            <a:pPr>
              <a:defRPr sz="1000" b="1">
                <a:solidFill>
                  <a:srgbClr val="9AA0B0"/>
                </a:solidFill>
                <a:latin typeface="Arial"/>
              </a:defRPr>
            </a:pPr>
            <a:r>
              <a:t>ESPESOR ALABE (T)</a:t>
            </a:r>
          </a:p>
          <a:p>
            <a:pPr>
              <a:spcBef>
                <a:spcPts val="600"/>
              </a:spcBef>
              <a:defRPr sz="2400" b="1">
                <a:solidFill>
                  <a:srgbClr val="00F0FF"/>
                </a:solidFill>
                <a:latin typeface="Space Grotesk"/>
              </a:defRPr>
            </a:pPr>
            <a:r>
              <a:t>1.2 mm</a:t>
            </a:r>
          </a:p>
        </p:txBody>
      </p:sp>
      <p:sp>
        <p:nvSpPr>
          <p:cNvPr id="17" name="Rounded Rectangle 16"/>
          <p:cNvSpPr/>
          <p:nvPr/>
        </p:nvSpPr>
        <p:spPr>
          <a:xfrm>
            <a:off x="3337560" y="5394960"/>
            <a:ext cx="2468880" cy="100584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5394960"/>
            <a:ext cx="2468880" cy="1005840"/>
          </a:xfrm>
          <a:prstGeom prst="rect">
            <a:avLst/>
          </a:prstGeom>
          <a:noFill/>
        </p:spPr>
        <p:txBody>
          <a:bodyPr wrap="square" lIns="164592" tIns="164592">
            <a:spAutoFit/>
          </a:bodyPr>
          <a:lstStyle/>
          <a:p>
            <a:pPr>
              <a:defRPr sz="1000" b="1">
                <a:solidFill>
                  <a:srgbClr val="9AA0B0"/>
                </a:solidFill>
                <a:latin typeface="Arial"/>
              </a:defRPr>
            </a:pPr>
            <a:r>
              <a:t>RELACIÓN D₁/D₂</a:t>
            </a:r>
          </a:p>
          <a:p>
            <a:pPr>
              <a:spcBef>
                <a:spcPts val="600"/>
              </a:spcBef>
              <a:defRPr sz="2400" b="1">
                <a:solidFill>
                  <a:srgbClr val="00F0FF"/>
                </a:solidFill>
                <a:latin typeface="Space Grotesk"/>
              </a:defRPr>
            </a:pPr>
            <a:r>
              <a:t>0.85</a:t>
            </a:r>
          </a:p>
        </p:txBody>
      </p:sp>
      <p:sp>
        <p:nvSpPr>
          <p:cNvPr id="19" name="Rounded Rectangle 18"/>
          <p:cNvSpPr/>
          <p:nvPr/>
        </p:nvSpPr>
        <p:spPr>
          <a:xfrm>
            <a:off x="6217920" y="1828800"/>
            <a:ext cx="5257800" cy="4572000"/>
          </a:xfrm>
          <a:prstGeom prst="roundRect">
            <a:avLst/>
          </a:prstGeom>
          <a:solidFill>
            <a:srgbClr val="1A1D26"/>
          </a:solidFill>
          <a:ln>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00F0FF"/>
                </a:solidFill>
                <a:latin typeface="Space Grotesk"/>
              </a:defRPr>
            </a:pPr>
            <a:r>
              <a:t>CARACTERÍSTICAS DEL RODETE SIROCCO</a:t>
            </a:r>
          </a:p>
          <a:p>
            <a:pPr>
              <a:spcBef>
                <a:spcPts val="1000"/>
              </a:spcBef>
              <a:defRPr sz="1100">
                <a:solidFill>
                  <a:srgbClr val="9AA0B0"/>
                </a:solidFill>
                <a:latin typeface="Arial"/>
              </a:defRPr>
            </a:pPr>
            <a:r>
              <a:t>• Álabes Curvados hacia Adelante: El ángulo de salida beta2 = 125° (mayor a 90°) es característico de las turbomáquinas de acción que priorizan altas presiones en dimensiones compactas.</a:t>
            </a:r>
            <a:br/>
            <a:br/>
            <a:r>
              <a:t>• Corona Circular Estrecha: La relación D1/D2 = 0.85 deja álabes radialmente muy cortos. Esto permite que el rodete actúe principalmente transfiriendo energía cinética (gran velocidad periférica U2).</a:t>
            </a:r>
            <a:br/>
            <a:br/>
            <a:r>
              <a:t>• Espesor Fino de Chapa: El espesor preliminar de 1.2 mm requiere un alabeado por conformado de chapa. El bloqueo de flujo kb en la entrada por espesor se calculó en 12% (kb1 = 0.88), un valor aceptable.</a:t>
            </a:r>
            <a:br/>
            <a:br/>
            <a:r>
              <a:t>• Transmisión y Motorización: Se estima una potencia mecánica al eje de 4.86 kW. Se adopta un motor comercial de 5.5 kW con un margen del 13.1%, conectado por correas con poleas de 125/200 mm para una relación de transmisión de ~0.63.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457200"/>
            <a:ext cx="10817352" cy="1371600"/>
          </a:xfrm>
          <a:prstGeom prst="rect">
            <a:avLst/>
          </a:prstGeom>
          <a:noFill/>
        </p:spPr>
        <p:txBody>
          <a:bodyPr wrap="square" lIns="0" tIns="0" rIns="0" bIns="0">
            <a:spAutoFit/>
          </a:bodyPr>
          <a:lstStyle/>
          <a:p>
            <a:pPr>
              <a:defRPr sz="1000" b="1">
                <a:solidFill>
                  <a:srgbClr val="00F0FF"/>
                </a:solidFill>
                <a:latin typeface="Space Grotesk"/>
              </a:defRPr>
            </a:pPr>
            <a:r>
              <a:t>INGENIERÍA DE VELOCIDADES</a:t>
            </a:r>
          </a:p>
          <a:p>
            <a:pPr>
              <a:spcBef>
                <a:spcPts val="400"/>
              </a:spcBef>
              <a:defRPr sz="2800" b="1">
                <a:solidFill>
                  <a:srgbClr val="F5F6FA"/>
                </a:solidFill>
                <a:latin typeface="Space Grotesk"/>
              </a:defRPr>
            </a:pPr>
            <a:r>
              <a:t>Triángulo de Velocidades a 1100 RPM</a:t>
            </a:r>
          </a:p>
          <a:p>
            <a:pPr>
              <a:spcBef>
                <a:spcPts val="400"/>
              </a:spcBef>
              <a:defRPr sz="1300">
                <a:solidFill>
                  <a:srgbClr val="9AA0B0"/>
                </a:solidFill>
                <a:latin typeface="Arial"/>
              </a:defRPr>
            </a:pPr>
            <a:r>
              <a:t>Cálculo y componentes de velocidad a la salida del rodete.</a:t>
            </a:r>
          </a:p>
        </p:txBody>
      </p:sp>
      <p:sp>
        <p:nvSpPr>
          <p:cNvPr id="3" name="Rounded Rectangle 2"/>
          <p:cNvSpPr/>
          <p:nvPr/>
        </p:nvSpPr>
        <p:spPr>
          <a:xfrm>
            <a:off x="685800" y="1828800"/>
            <a:ext cx="2468880" cy="118872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2468880" cy="1188720"/>
          </a:xfrm>
          <a:prstGeom prst="rect">
            <a:avLst/>
          </a:prstGeom>
          <a:noFill/>
        </p:spPr>
        <p:txBody>
          <a:bodyPr wrap="square" lIns="164592" tIns="164592">
            <a:spAutoFit/>
          </a:bodyPr>
          <a:lstStyle/>
          <a:p>
            <a:pPr>
              <a:defRPr sz="1000" b="1">
                <a:solidFill>
                  <a:srgbClr val="9AA0B0"/>
                </a:solidFill>
                <a:latin typeface="Arial"/>
              </a:defRPr>
            </a:pPr>
            <a:r>
              <a:t>VEL. TANGENCIAL (U₂)</a:t>
            </a:r>
          </a:p>
          <a:p>
            <a:pPr>
              <a:spcBef>
                <a:spcPts val="600"/>
              </a:spcBef>
              <a:defRPr sz="2400" b="1">
                <a:solidFill>
                  <a:srgbClr val="00F0FF"/>
                </a:solidFill>
                <a:latin typeface="Space Grotesk"/>
              </a:defRPr>
            </a:pPr>
            <a:r>
              <a:t>34.56 m/s</a:t>
            </a:r>
          </a:p>
        </p:txBody>
      </p:sp>
      <p:sp>
        <p:nvSpPr>
          <p:cNvPr id="5" name="Rounded Rectangle 4"/>
          <p:cNvSpPr/>
          <p:nvPr/>
        </p:nvSpPr>
        <p:spPr>
          <a:xfrm>
            <a:off x="685800" y="3200400"/>
            <a:ext cx="2468880" cy="118872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00400"/>
            <a:ext cx="2468880" cy="1188720"/>
          </a:xfrm>
          <a:prstGeom prst="rect">
            <a:avLst/>
          </a:prstGeom>
          <a:noFill/>
        </p:spPr>
        <p:txBody>
          <a:bodyPr wrap="square" lIns="164592" tIns="164592">
            <a:spAutoFit/>
          </a:bodyPr>
          <a:lstStyle/>
          <a:p>
            <a:pPr>
              <a:defRPr sz="1000" b="1">
                <a:solidFill>
                  <a:srgbClr val="9AA0B0"/>
                </a:solidFill>
                <a:latin typeface="Arial"/>
              </a:defRPr>
            </a:pPr>
            <a:r>
              <a:t>VEL. RADIAL (C_M₂)</a:t>
            </a:r>
          </a:p>
          <a:p>
            <a:pPr>
              <a:spcBef>
                <a:spcPts val="600"/>
              </a:spcBef>
              <a:defRPr sz="2400" b="1">
                <a:solidFill>
                  <a:srgbClr val="00F0FF"/>
                </a:solidFill>
                <a:latin typeface="Space Grotesk"/>
              </a:defRPr>
            </a:pPr>
            <a:r>
              <a:t>7.19 m/s</a:t>
            </a:r>
          </a:p>
        </p:txBody>
      </p:sp>
      <p:sp>
        <p:nvSpPr>
          <p:cNvPr id="7" name="Rounded Rectangle 6"/>
          <p:cNvSpPr/>
          <p:nvPr/>
        </p:nvSpPr>
        <p:spPr>
          <a:xfrm>
            <a:off x="685800" y="4572000"/>
            <a:ext cx="2468880" cy="118872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572000"/>
            <a:ext cx="2468880" cy="1188720"/>
          </a:xfrm>
          <a:prstGeom prst="rect">
            <a:avLst/>
          </a:prstGeom>
          <a:noFill/>
        </p:spPr>
        <p:txBody>
          <a:bodyPr wrap="square" lIns="164592" tIns="164592">
            <a:spAutoFit/>
          </a:bodyPr>
          <a:lstStyle/>
          <a:p>
            <a:pPr>
              <a:defRPr sz="1000" b="1">
                <a:solidFill>
                  <a:srgbClr val="9AA0B0"/>
                </a:solidFill>
                <a:latin typeface="Arial"/>
              </a:defRPr>
            </a:pPr>
            <a:r>
              <a:t>VEL. ARRASTRE (C_U₂)</a:t>
            </a:r>
          </a:p>
          <a:p>
            <a:pPr>
              <a:spcBef>
                <a:spcPts val="600"/>
              </a:spcBef>
              <a:defRPr sz="2400" b="1">
                <a:solidFill>
                  <a:srgbClr val="00F0FF"/>
                </a:solidFill>
                <a:latin typeface="Space Grotesk"/>
              </a:defRPr>
            </a:pPr>
            <a:r>
              <a:t>37.51 m/s</a:t>
            </a:r>
          </a:p>
        </p:txBody>
      </p:sp>
      <p:sp>
        <p:nvSpPr>
          <p:cNvPr id="9" name="Rounded Rectangle 8"/>
          <p:cNvSpPr/>
          <p:nvPr/>
        </p:nvSpPr>
        <p:spPr>
          <a:xfrm>
            <a:off x="3474720" y="1828800"/>
            <a:ext cx="8001000" cy="3931920"/>
          </a:xfrm>
          <a:prstGeom prst="roundRect">
            <a:avLst/>
          </a:prstGeom>
          <a:solidFill>
            <a:srgbClr val="1A1D26"/>
          </a:solidFill>
          <a:ln>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00F0FF"/>
                </a:solidFill>
                <a:latin typeface="Space Grotesk"/>
              </a:defRPr>
            </a:pPr>
            <a:r>
              <a:t>ANÁLISIS DE LOS VECTORES DE VELOCIDAD</a:t>
            </a:r>
          </a:p>
          <a:p>
            <a:pPr>
              <a:spcBef>
                <a:spcPts val="1000"/>
              </a:spcBef>
              <a:defRPr sz="1150">
                <a:solidFill>
                  <a:srgbClr val="9AA0B0"/>
                </a:solidFill>
                <a:latin typeface="Arial"/>
              </a:defRPr>
            </a:pPr>
            <a:r>
              <a:t>• Deslizamiento de Wiesner: Debido al número finito de álabes (Z=48), el flujo no sigue perfectamente el ángulo constructivo. Se aplicó el factor de deslizamiento de Wiesner (sigma = 0.940), resultando en una velocidad tangencial real de salida Cu2 = 37.51 m/s.</a:t>
            </a:r>
            <a:br/>
            <a:br/>
            <a:r>
              <a:t>• Velocidad Absoluta (C₂): Con un vector tangencial Cu2 de 37.51 m/s y una componente radial Cm2 de 7.19 m/s, la velocidad absoluta de salida del aire del rodete es C2 = 38.2 m/s, saliendo con una dirección inclinada muy pronunciada.</a:t>
            </a:r>
            <a:br/>
            <a:br/>
            <a:r>
              <a:t>• Presión Teórica de Euler (Δp_E): El trabajo impartido teóricamente por el rodete al aire es de 1555.5 Pa (158.6 mmH2O).</a:t>
            </a:r>
            <a:br/>
            <a:br/>
            <a:r>
              <a:t>• Eficiencia Estática (η_estática): Considerando las pérdidas internas y una eficiencia mecánica del 96% en la transmisión, la potencia al eje de cálculo es de 4.86 kW, lo que arroja una eficiencia estática estimada del 54.5% para el ventilador en este punto de diseño.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457200"/>
            <a:ext cx="10817352" cy="1371600"/>
          </a:xfrm>
          <a:prstGeom prst="rect">
            <a:avLst/>
          </a:prstGeom>
          <a:noFill/>
        </p:spPr>
        <p:txBody>
          <a:bodyPr wrap="square" lIns="0" tIns="0" rIns="0" bIns="0">
            <a:spAutoFit/>
          </a:bodyPr>
          <a:lstStyle/>
          <a:p>
            <a:pPr>
              <a:defRPr sz="1000" b="1">
                <a:solidFill>
                  <a:srgbClr val="00F0FF"/>
                </a:solidFill>
                <a:latin typeface="Space Grotesk"/>
              </a:defRPr>
            </a:pPr>
            <a:r>
              <a:t>ESTRUCTURA DEL CASING</a:t>
            </a:r>
          </a:p>
          <a:p>
            <a:pPr>
              <a:spcBef>
                <a:spcPts val="400"/>
              </a:spcBef>
              <a:defRPr sz="2800" b="1">
                <a:solidFill>
                  <a:srgbClr val="F5F6FA"/>
                </a:solidFill>
                <a:latin typeface="Space Grotesk"/>
              </a:defRPr>
            </a:pPr>
            <a:r>
              <a:t>Voluta y Conversión Dinámica</a:t>
            </a:r>
          </a:p>
          <a:p>
            <a:pPr>
              <a:spcBef>
                <a:spcPts val="400"/>
              </a:spcBef>
              <a:defRPr sz="1300">
                <a:solidFill>
                  <a:srgbClr val="9AA0B0"/>
                </a:solidFill>
                <a:latin typeface="Arial"/>
              </a:defRPr>
            </a:pPr>
            <a:r>
              <a:t>Carcasa espiral diseñada para la transformación de velocidad en presión estática.</a:t>
            </a:r>
          </a:p>
        </p:txBody>
      </p:sp>
      <p:sp>
        <p:nvSpPr>
          <p:cNvPr id="3" name="Rounded Rectangle 2"/>
          <p:cNvSpPr/>
          <p:nvPr/>
        </p:nvSpPr>
        <p:spPr>
          <a:xfrm>
            <a:off x="685800" y="1828800"/>
            <a:ext cx="3291840" cy="137160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28800"/>
            <a:ext cx="3291840" cy="1371600"/>
          </a:xfrm>
          <a:prstGeom prst="rect">
            <a:avLst/>
          </a:prstGeom>
          <a:noFill/>
        </p:spPr>
        <p:txBody>
          <a:bodyPr wrap="square" lIns="164592" tIns="164592">
            <a:spAutoFit/>
          </a:bodyPr>
          <a:lstStyle/>
          <a:p>
            <a:pPr>
              <a:defRPr sz="1000" b="1">
                <a:solidFill>
                  <a:srgbClr val="9AA0B0"/>
                </a:solidFill>
                <a:latin typeface="Arial"/>
              </a:defRPr>
            </a:pPr>
            <a:r>
              <a:t>ANCHO INTERIOR VOLUTA</a:t>
            </a:r>
          </a:p>
          <a:p>
            <a:pPr>
              <a:spcBef>
                <a:spcPts val="600"/>
              </a:spcBef>
              <a:defRPr sz="2400" b="1">
                <a:solidFill>
                  <a:srgbClr val="00F0FF"/>
                </a:solidFill>
                <a:latin typeface="Space Grotesk"/>
              </a:defRPr>
            </a:pPr>
            <a:r>
              <a:t>280 mm</a:t>
            </a:r>
          </a:p>
        </p:txBody>
      </p:sp>
      <p:sp>
        <p:nvSpPr>
          <p:cNvPr id="5" name="Rounded Rectangle 4"/>
          <p:cNvSpPr/>
          <p:nvPr/>
        </p:nvSpPr>
        <p:spPr>
          <a:xfrm>
            <a:off x="4206240" y="1828800"/>
            <a:ext cx="3291840" cy="137160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0" y="1828800"/>
            <a:ext cx="3291840" cy="1371600"/>
          </a:xfrm>
          <a:prstGeom prst="rect">
            <a:avLst/>
          </a:prstGeom>
          <a:noFill/>
        </p:spPr>
        <p:txBody>
          <a:bodyPr wrap="square" lIns="164592" tIns="164592">
            <a:spAutoFit/>
          </a:bodyPr>
          <a:lstStyle/>
          <a:p>
            <a:pPr>
              <a:defRPr sz="1000" b="1">
                <a:solidFill>
                  <a:srgbClr val="9AA0B0"/>
                </a:solidFill>
                <a:latin typeface="Arial"/>
              </a:defRPr>
            </a:pPr>
            <a:r>
              <a:t>HOLGURA DE LENGUA</a:t>
            </a:r>
          </a:p>
          <a:p>
            <a:pPr>
              <a:spcBef>
                <a:spcPts val="600"/>
              </a:spcBef>
              <a:defRPr sz="2400" b="1">
                <a:solidFill>
                  <a:srgbClr val="FF6B00"/>
                </a:solidFill>
                <a:latin typeface="Space Grotesk"/>
              </a:defRPr>
            </a:pPr>
            <a:r>
              <a:t>48 mm</a:t>
            </a:r>
          </a:p>
        </p:txBody>
      </p:sp>
      <p:sp>
        <p:nvSpPr>
          <p:cNvPr id="7" name="Rounded Rectangle 6"/>
          <p:cNvSpPr/>
          <p:nvPr/>
        </p:nvSpPr>
        <p:spPr>
          <a:xfrm>
            <a:off x="7726679" y="1828800"/>
            <a:ext cx="3749039" cy="1371600"/>
          </a:xfrm>
          <a:prstGeom prst="roundRect">
            <a:avLst/>
          </a:prstGeom>
          <a:solidFill>
            <a:srgbClr val="1A1D26"/>
          </a:solidFill>
          <a:ln w="12700">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828800"/>
            <a:ext cx="3749039" cy="1371600"/>
          </a:xfrm>
          <a:prstGeom prst="rect">
            <a:avLst/>
          </a:prstGeom>
          <a:noFill/>
        </p:spPr>
        <p:txBody>
          <a:bodyPr wrap="square" lIns="164592" tIns="164592">
            <a:spAutoFit/>
          </a:bodyPr>
          <a:lstStyle/>
          <a:p>
            <a:pPr>
              <a:defRPr sz="1000" b="1">
                <a:solidFill>
                  <a:srgbClr val="9AA0B0"/>
                </a:solidFill>
                <a:latin typeface="Arial"/>
              </a:defRPr>
            </a:pPr>
            <a:r>
              <a:t>VELOCIDAD DE DESCARGA</a:t>
            </a:r>
          </a:p>
          <a:p>
            <a:pPr>
              <a:spcBef>
                <a:spcPts val="600"/>
              </a:spcBef>
              <a:defRPr sz="2400" b="1">
                <a:solidFill>
                  <a:srgbClr val="00F0FF"/>
                </a:solidFill>
                <a:latin typeface="Space Grotesk"/>
              </a:defRPr>
            </a:pPr>
            <a:r>
              <a:t>~15 m/s</a:t>
            </a:r>
          </a:p>
        </p:txBody>
      </p:sp>
      <p:sp>
        <p:nvSpPr>
          <p:cNvPr id="9" name="Rounded Rectangle 8"/>
          <p:cNvSpPr/>
          <p:nvPr/>
        </p:nvSpPr>
        <p:spPr>
          <a:xfrm>
            <a:off x="685800" y="3566160"/>
            <a:ext cx="10789920" cy="2560320"/>
          </a:xfrm>
          <a:prstGeom prst="roundRect">
            <a:avLst/>
          </a:prstGeom>
          <a:solidFill>
            <a:srgbClr val="1A1D26"/>
          </a:solidFill>
          <a:ln>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00F0FF"/>
                </a:solidFill>
                <a:latin typeface="Space Grotesk"/>
              </a:defRPr>
            </a:pPr>
            <a:r>
              <a:t>PRINCIPIOS DE DISEÑO DE LA VOLUTA</a:t>
            </a:r>
          </a:p>
          <a:p>
            <a:pPr>
              <a:spcBef>
                <a:spcPts val="800"/>
              </a:spcBef>
              <a:defRPr sz="1150">
                <a:solidFill>
                  <a:srgbClr val="9AA0B0"/>
                </a:solidFill>
                <a:latin typeface="Arial"/>
              </a:defRPr>
            </a:pPr>
            <a:r>
              <a:t>• Conversión de Energía: El aire sale del rodete a 38.2 m/s (alta energía cinética). La voluta, diseñada siguiendo una espiral logarítmica, ensancha gradualmente el área de paso del flujo para disminuir la velocidad y aumentar la presión estática hasta alcanzar ~15 m/s en la boca de descarga.</a:t>
            </a:r>
            <a:br/>
            <a:r>
              <a:t>• Holgura de la Lengua (Cut-off): Ubicada a 48 mm del rodete (8% de D2). Esta distancia evita la interacción de presiones severas que originarían ruido tonal (frecuencia de paso de álabes). Una holgura menor incrementaría ligeramente la presión, pero el ruido sería inaceptable para entornos industriales normales.</a:t>
            </a:r>
            <a:br/>
            <a:r>
              <a:t>• Ancho de Carcasa: La voluta tiene 280 mm de ancho interior, lo que otorga una holgura lateral de 25 mm por lado respecto al rodete (230 mm) para evitar fricciones secundarias de disco y permitir el flujo de retorno.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457200"/>
            <a:ext cx="10817352" cy="1371600"/>
          </a:xfrm>
          <a:prstGeom prst="rect">
            <a:avLst/>
          </a:prstGeom>
          <a:noFill/>
        </p:spPr>
        <p:txBody>
          <a:bodyPr wrap="square" lIns="0" tIns="0" rIns="0" bIns="0">
            <a:spAutoFit/>
          </a:bodyPr>
          <a:lstStyle/>
          <a:p>
            <a:pPr>
              <a:defRPr sz="1000" b="1">
                <a:solidFill>
                  <a:srgbClr val="00F0FF"/>
                </a:solidFill>
                <a:latin typeface="Space Grotesk"/>
              </a:defRPr>
            </a:pPr>
            <a:r>
              <a:t>ANÁLISIS DE OPERACIÓN</a:t>
            </a:r>
          </a:p>
          <a:p>
            <a:pPr>
              <a:spcBef>
                <a:spcPts val="400"/>
              </a:spcBef>
              <a:defRPr sz="2800" b="1">
                <a:solidFill>
                  <a:srgbClr val="F5F6FA"/>
                </a:solidFill>
                <a:latin typeface="Space Grotesk"/>
              </a:defRPr>
            </a:pPr>
            <a:r>
              <a:t>Comparativa de Velocidad de Giro</a:t>
            </a:r>
          </a:p>
          <a:p>
            <a:pPr>
              <a:spcBef>
                <a:spcPts val="400"/>
              </a:spcBef>
              <a:defRPr sz="1300">
                <a:solidFill>
                  <a:srgbClr val="9AA0B0"/>
                </a:solidFill>
                <a:latin typeface="Arial"/>
              </a:defRPr>
            </a:pPr>
            <a:r>
              <a:t>Justificación del descarte de 1500 RPM frente a las 1100 RPM recomendadas.</a:t>
            </a:r>
          </a:p>
        </p:txBody>
      </p:sp>
      <p:graphicFrame>
        <p:nvGraphicFramePr>
          <p:cNvPr id="3" name="Table 2"/>
          <p:cNvGraphicFramePr>
            <a:graphicFrameLocks noGrp="1"/>
          </p:cNvGraphicFramePr>
          <p:nvPr/>
        </p:nvGraphicFramePr>
        <p:xfrm>
          <a:off x="685800" y="1828800"/>
          <a:ext cx="10817352" cy="4114800"/>
        </p:xfrm>
        <a:graphic>
          <a:graphicData uri="http://schemas.openxmlformats.org/drawingml/2006/table">
            <a:tbl>
              <a:tblPr firstRow="1" bandRow="1">
                <a:tableStyleId>{5C22544A-7EE6-4342-B048-85BDC9FD1C3A}</a:tableStyleId>
              </a:tblPr>
              <a:tblGrid>
                <a:gridCol w="2926080"/>
                <a:gridCol w="2743200"/>
                <a:gridCol w="2743200"/>
                <a:gridCol w="2404872"/>
              </a:tblGrid>
              <a:tr h="685800">
                <a:tc>
                  <a:txBody>
                    <a:bodyPr/>
                    <a:lstStyle/>
                    <a:p>
                      <a:pPr algn="ctr">
                        <a:defRPr sz="1000" b="1">
                          <a:solidFill>
                            <a:srgbClr val="00F0FF"/>
                          </a:solidFill>
                          <a:latin typeface="Space Grotesk"/>
                        </a:defRPr>
                      </a:pPr>
                      <a:r>
                        <a:t>MAGNITUD / PARÁMETRO</a:t>
                      </a:r>
                    </a:p>
                  </a:txBody>
                  <a:tcPr>
                    <a:solidFill>
                      <a:srgbClr val="1A1D26"/>
                    </a:solidFill>
                  </a:tcPr>
                </a:tc>
                <a:tc>
                  <a:txBody>
                    <a:bodyPr/>
                    <a:lstStyle/>
                    <a:p>
                      <a:pPr algn="ctr">
                        <a:defRPr sz="1000" b="1">
                          <a:solidFill>
                            <a:srgbClr val="00F0FF"/>
                          </a:solidFill>
                          <a:latin typeface="Space Grotesk"/>
                        </a:defRPr>
                      </a:pPr>
                      <a:r>
                        <a:t>OPERACIÓN A 1100 RPM (V1)</a:t>
                      </a:r>
                    </a:p>
                  </a:txBody>
                  <a:tcPr>
                    <a:solidFill>
                      <a:srgbClr val="1A1D26"/>
                    </a:solidFill>
                  </a:tcPr>
                </a:tc>
                <a:tc>
                  <a:txBody>
                    <a:bodyPr/>
                    <a:lstStyle/>
                    <a:p>
                      <a:pPr algn="ctr">
                        <a:defRPr sz="1000" b="1">
                          <a:solidFill>
                            <a:srgbClr val="00F0FF"/>
                          </a:solidFill>
                          <a:latin typeface="Space Grotesk"/>
                        </a:defRPr>
                      </a:pPr>
                      <a:r>
                        <a:t>OPERACIÓN A 1500 RPM (TANTEO)</a:t>
                      </a:r>
                    </a:p>
                  </a:txBody>
                  <a:tcPr>
                    <a:solidFill>
                      <a:srgbClr val="1A1D26"/>
                    </a:solidFill>
                  </a:tcPr>
                </a:tc>
                <a:tc>
                  <a:txBody>
                    <a:bodyPr/>
                    <a:lstStyle/>
                    <a:p>
                      <a:pPr algn="ctr">
                        <a:defRPr sz="1000" b="1">
                          <a:solidFill>
                            <a:srgbClr val="00F0FF"/>
                          </a:solidFill>
                          <a:latin typeface="Space Grotesk"/>
                        </a:defRPr>
                      </a:pPr>
                      <a:r>
                        <a:t>CONCLUSIÓN / ANÁLISIS</a:t>
                      </a:r>
                    </a:p>
                  </a:txBody>
                  <a:tcPr>
                    <a:solidFill>
                      <a:srgbClr val="1A1D26"/>
                    </a:solidFill>
                  </a:tcPr>
                </a:tc>
              </a:tr>
              <a:tr h="685800">
                <a:tc>
                  <a:txBody>
                    <a:bodyPr/>
                    <a:lstStyle/>
                    <a:p>
                      <a:pPr algn="l">
                        <a:defRPr sz="1050">
                          <a:solidFill>
                            <a:srgbClr val="F5F6FA"/>
                          </a:solidFill>
                          <a:latin typeface="Arial"/>
                        </a:defRPr>
                      </a:pPr>
                      <a:r>
                        <a:t>Velocidad Periférica (U₂)</a:t>
                      </a:r>
                    </a:p>
                  </a:txBody>
                  <a:tcPr>
                    <a:solidFill>
                      <a:srgbClr val="0B0C10"/>
                    </a:solidFill>
                  </a:tcPr>
                </a:tc>
                <a:tc>
                  <a:txBody>
                    <a:bodyPr/>
                    <a:lstStyle/>
                    <a:p>
                      <a:pPr algn="ctr">
                        <a:defRPr sz="1050">
                          <a:solidFill>
                            <a:srgbClr val="F5F6FA"/>
                          </a:solidFill>
                          <a:latin typeface="Arial"/>
                        </a:defRPr>
                      </a:pPr>
                      <a:r>
                        <a:t>34.56 m/s</a:t>
                      </a:r>
                    </a:p>
                  </a:txBody>
                  <a:tcPr>
                    <a:solidFill>
                      <a:srgbClr val="0B0C10"/>
                    </a:solidFill>
                  </a:tcPr>
                </a:tc>
                <a:tc>
                  <a:txBody>
                    <a:bodyPr/>
                    <a:lstStyle/>
                    <a:p>
                      <a:pPr algn="ctr">
                        <a:defRPr sz="1050">
                          <a:solidFill>
                            <a:srgbClr val="F5F6FA"/>
                          </a:solidFill>
                          <a:latin typeface="Arial"/>
                        </a:defRPr>
                      </a:pPr>
                      <a:r>
                        <a:t>47.12 m/s</a:t>
                      </a:r>
                    </a:p>
                  </a:txBody>
                  <a:tcPr>
                    <a:solidFill>
                      <a:srgbClr val="0B0C10"/>
                    </a:solidFill>
                  </a:tcPr>
                </a:tc>
                <a:tc>
                  <a:txBody>
                    <a:bodyPr/>
                    <a:lstStyle/>
                    <a:p>
                      <a:pPr algn="ctr">
                        <a:defRPr sz="1050">
                          <a:solidFill>
                            <a:srgbClr val="00F0FF"/>
                          </a:solidFill>
                          <a:latin typeface="Arial"/>
                        </a:defRPr>
                      </a:pPr>
                      <a:r>
                        <a:t>Mayor esfuerzo centrífugo a 1500 rpm</a:t>
                      </a:r>
                    </a:p>
                  </a:txBody>
                  <a:tcPr>
                    <a:solidFill>
                      <a:srgbClr val="0B0C10"/>
                    </a:solidFill>
                  </a:tcPr>
                </a:tc>
              </a:tr>
              <a:tr h="685800">
                <a:tc>
                  <a:txBody>
                    <a:bodyPr/>
                    <a:lstStyle/>
                    <a:p>
                      <a:pPr algn="l">
                        <a:defRPr sz="1050">
                          <a:solidFill>
                            <a:srgbClr val="F5F6FA"/>
                          </a:solidFill>
                          <a:latin typeface="Arial"/>
                        </a:defRPr>
                      </a:pPr>
                      <a:r>
                        <a:t>Coeficiente de Presión</a:t>
                      </a:r>
                    </a:p>
                  </a:txBody>
                  <a:tcPr>
                    <a:solidFill>
                      <a:srgbClr val="1A1D26"/>
                    </a:solidFill>
                  </a:tcPr>
                </a:tc>
                <a:tc>
                  <a:txBody>
                    <a:bodyPr/>
                    <a:lstStyle/>
                    <a:p>
                      <a:pPr algn="ctr">
                        <a:defRPr sz="1050">
                          <a:solidFill>
                            <a:srgbClr val="F5F6FA"/>
                          </a:solidFill>
                          <a:latin typeface="Arial"/>
                        </a:defRPr>
                      </a:pPr>
                      <a:r>
                        <a:t>0.616</a:t>
                      </a:r>
                    </a:p>
                  </a:txBody>
                  <a:tcPr>
                    <a:solidFill>
                      <a:srgbClr val="1A1D26"/>
                    </a:solidFill>
                  </a:tcPr>
                </a:tc>
                <a:tc>
                  <a:txBody>
                    <a:bodyPr/>
                    <a:lstStyle/>
                    <a:p>
                      <a:pPr algn="ctr">
                        <a:defRPr sz="1050">
                          <a:solidFill>
                            <a:srgbClr val="F5F6FA"/>
                          </a:solidFill>
                          <a:latin typeface="Arial"/>
                        </a:defRPr>
                      </a:pPr>
                      <a:r>
                        <a:t>0.331</a:t>
                      </a:r>
                    </a:p>
                  </a:txBody>
                  <a:tcPr>
                    <a:solidFill>
                      <a:srgbClr val="1A1D26"/>
                    </a:solidFill>
                  </a:tcPr>
                </a:tc>
                <a:tc>
                  <a:txBody>
                    <a:bodyPr/>
                    <a:lstStyle/>
                    <a:p>
                      <a:pPr algn="ctr">
                        <a:defRPr sz="1050">
                          <a:solidFill>
                            <a:srgbClr val="00F0FF"/>
                          </a:solidFill>
                          <a:latin typeface="Arial"/>
                        </a:defRPr>
                      </a:pPr>
                      <a:r>
                        <a:t>Desequilibrio en coeficientes</a:t>
                      </a:r>
                    </a:p>
                  </a:txBody>
                  <a:tcPr>
                    <a:solidFill>
                      <a:srgbClr val="1A1D26"/>
                    </a:solidFill>
                  </a:tcPr>
                </a:tc>
              </a:tr>
              <a:tr h="685800">
                <a:tc>
                  <a:txBody>
                    <a:bodyPr/>
                    <a:lstStyle/>
                    <a:p>
                      <a:pPr algn="l">
                        <a:defRPr sz="1050">
                          <a:solidFill>
                            <a:srgbClr val="F5F6FA"/>
                          </a:solidFill>
                          <a:latin typeface="Arial"/>
                        </a:defRPr>
                      </a:pPr>
                      <a:r>
                        <a:t>Presión de Euler (Δp_E)</a:t>
                      </a:r>
                    </a:p>
                  </a:txBody>
                  <a:tcPr>
                    <a:solidFill>
                      <a:srgbClr val="0B0C10"/>
                    </a:solidFill>
                  </a:tcPr>
                </a:tc>
                <a:tc>
                  <a:txBody>
                    <a:bodyPr/>
                    <a:lstStyle/>
                    <a:p>
                      <a:pPr algn="ctr">
                        <a:defRPr sz="1050">
                          <a:solidFill>
                            <a:srgbClr val="F5F6FA"/>
                          </a:solidFill>
                          <a:latin typeface="Arial"/>
                        </a:defRPr>
                      </a:pPr>
                      <a:r>
                        <a:t>1555.5 Pa</a:t>
                      </a:r>
                    </a:p>
                  </a:txBody>
                  <a:tcPr>
                    <a:solidFill>
                      <a:srgbClr val="0B0C10"/>
                    </a:solidFill>
                  </a:tcPr>
                </a:tc>
                <a:tc>
                  <a:txBody>
                    <a:bodyPr/>
                    <a:lstStyle/>
                    <a:p>
                      <a:pPr algn="ctr">
                        <a:defRPr sz="1050">
                          <a:solidFill>
                            <a:srgbClr val="F5F6FA"/>
                          </a:solidFill>
                          <a:latin typeface="Arial"/>
                        </a:defRPr>
                      </a:pPr>
                      <a:r>
                        <a:t>2892.4 Pa</a:t>
                      </a:r>
                    </a:p>
                  </a:txBody>
                  <a:tcPr>
                    <a:solidFill>
                      <a:srgbClr val="0B0C10"/>
                    </a:solidFill>
                  </a:tcPr>
                </a:tc>
                <a:tc>
                  <a:txBody>
                    <a:bodyPr/>
                    <a:lstStyle/>
                    <a:p>
                      <a:pPr algn="ctr">
                        <a:defRPr sz="1050">
                          <a:solidFill>
                            <a:srgbClr val="00F0FF"/>
                          </a:solidFill>
                          <a:latin typeface="Arial"/>
                        </a:defRPr>
                      </a:pPr>
                      <a:r>
                        <a:t>Exceso innecesario de energía</a:t>
                      </a:r>
                    </a:p>
                  </a:txBody>
                  <a:tcPr>
                    <a:solidFill>
                      <a:srgbClr val="0B0C10"/>
                    </a:solidFill>
                  </a:tcPr>
                </a:tc>
              </a:tr>
              <a:tr h="685800">
                <a:tc>
                  <a:txBody>
                    <a:bodyPr/>
                    <a:lstStyle/>
                    <a:p>
                      <a:pPr algn="l">
                        <a:defRPr sz="1050">
                          <a:solidFill>
                            <a:srgbClr val="F5F6FA"/>
                          </a:solidFill>
                          <a:latin typeface="Arial"/>
                        </a:defRPr>
                      </a:pPr>
                      <a:r>
                        <a:t>Potencia al Eje Estimada</a:t>
                      </a:r>
                    </a:p>
                  </a:txBody>
                  <a:tcPr>
                    <a:solidFill>
                      <a:srgbClr val="1A1D26"/>
                    </a:solidFill>
                  </a:tcPr>
                </a:tc>
                <a:tc>
                  <a:txBody>
                    <a:bodyPr/>
                    <a:lstStyle/>
                    <a:p>
                      <a:pPr algn="ctr">
                        <a:defRPr sz="1050">
                          <a:solidFill>
                            <a:srgbClr val="F5F6FA"/>
                          </a:solidFill>
                          <a:latin typeface="Arial"/>
                        </a:defRPr>
                      </a:pPr>
                      <a:r>
                        <a:t>4.86 kW</a:t>
                      </a:r>
                    </a:p>
                  </a:txBody>
                  <a:tcPr>
                    <a:solidFill>
                      <a:srgbClr val="1A1D26"/>
                    </a:solidFill>
                  </a:tcPr>
                </a:tc>
                <a:tc>
                  <a:txBody>
                    <a:bodyPr/>
                    <a:lstStyle/>
                    <a:p>
                      <a:pPr algn="ctr">
                        <a:defRPr sz="1050">
                          <a:solidFill>
                            <a:srgbClr val="F5F6FA"/>
                          </a:solidFill>
                          <a:latin typeface="Arial"/>
                        </a:defRPr>
                      </a:pPr>
                      <a:r>
                        <a:t>9.03 kW</a:t>
                      </a:r>
                    </a:p>
                  </a:txBody>
                  <a:tcPr>
                    <a:solidFill>
                      <a:srgbClr val="1A1D26"/>
                    </a:solidFill>
                  </a:tcPr>
                </a:tc>
                <a:tc>
                  <a:txBody>
                    <a:bodyPr/>
                    <a:lstStyle/>
                    <a:p>
                      <a:pPr algn="ctr">
                        <a:defRPr sz="1050">
                          <a:solidFill>
                            <a:srgbClr val="00F0FF"/>
                          </a:solidFill>
                          <a:latin typeface="Arial"/>
                        </a:defRPr>
                      </a:pPr>
                      <a:r>
                        <a:t>Excede capacidad del motor de 5.5 kW</a:t>
                      </a:r>
                    </a:p>
                  </a:txBody>
                  <a:tcPr>
                    <a:solidFill>
                      <a:srgbClr val="1A1D26"/>
                    </a:solidFill>
                  </a:tcPr>
                </a:tc>
              </a:tr>
              <a:tr h="685800">
                <a:tc>
                  <a:txBody>
                    <a:bodyPr/>
                    <a:lstStyle/>
                    <a:p>
                      <a:pPr algn="l">
                        <a:defRPr sz="1050">
                          <a:solidFill>
                            <a:srgbClr val="F5F6FA"/>
                          </a:solidFill>
                          <a:latin typeface="Arial"/>
                        </a:defRPr>
                      </a:pPr>
                      <a:r>
                        <a:t>Estado de Viabilidad</a:t>
                      </a:r>
                    </a:p>
                  </a:txBody>
                  <a:tcPr>
                    <a:solidFill>
                      <a:srgbClr val="0B0C10"/>
                    </a:solidFill>
                  </a:tcPr>
                </a:tc>
                <a:tc>
                  <a:txBody>
                    <a:bodyPr/>
                    <a:lstStyle/>
                    <a:p>
                      <a:pPr algn="ctr">
                        <a:defRPr sz="1050" b="1">
                          <a:solidFill>
                            <a:srgbClr val="00FF66"/>
                          </a:solidFill>
                          <a:latin typeface="Arial"/>
                        </a:defRPr>
                      </a:pPr>
                      <a:r>
                        <a:t>VIABLE (Motor de 5.5 kW)</a:t>
                      </a:r>
                    </a:p>
                  </a:txBody>
                  <a:tcPr>
                    <a:solidFill>
                      <a:srgbClr val="0B0C10"/>
                    </a:solidFill>
                  </a:tcPr>
                </a:tc>
                <a:tc>
                  <a:txBody>
                    <a:bodyPr/>
                    <a:lstStyle/>
                    <a:p>
                      <a:pPr algn="ctr">
                        <a:defRPr sz="1050" b="1">
                          <a:solidFill>
                            <a:srgbClr val="00FF66"/>
                          </a:solidFill>
                          <a:latin typeface="Arial"/>
                        </a:defRPr>
                      </a:pPr>
                      <a:r>
                        <a:t>INVIABLE (&gt; 9 kW requeridos)</a:t>
                      </a:r>
                    </a:p>
                  </a:txBody>
                  <a:tcPr>
                    <a:solidFill>
                      <a:srgbClr val="0B0C10"/>
                    </a:solidFill>
                  </a:tcPr>
                </a:tc>
                <a:tc>
                  <a:txBody>
                    <a:bodyPr/>
                    <a:lstStyle/>
                    <a:p>
                      <a:pPr algn="ctr">
                        <a:defRPr sz="1050">
                          <a:solidFill>
                            <a:srgbClr val="00F0FF"/>
                          </a:solidFill>
                          <a:latin typeface="Arial"/>
                        </a:defRPr>
                      </a:pPr>
                      <a:r>
                        <a:t>Selección de 1100 rpm óptima</a:t>
                      </a:r>
                    </a:p>
                  </a:txBody>
                  <a:tcPr>
                    <a:solidFill>
                      <a:srgbClr val="0B0C10"/>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C10"/>
        </a:solidFill>
        <a:effectLst/>
      </p:bgPr>
    </p:bg>
    <p:spTree>
      <p:nvGrpSpPr>
        <p:cNvPr id="1" name=""/>
        <p:cNvGrpSpPr/>
        <p:nvPr/>
      </p:nvGrpSpPr>
      <p:grpSpPr/>
      <p:sp>
        <p:nvSpPr>
          <p:cNvPr id="2" name="TextBox 1"/>
          <p:cNvSpPr txBox="1"/>
          <p:nvPr/>
        </p:nvSpPr>
        <p:spPr>
          <a:xfrm>
            <a:off x="685800" y="457200"/>
            <a:ext cx="10817352" cy="1371600"/>
          </a:xfrm>
          <a:prstGeom prst="rect">
            <a:avLst/>
          </a:prstGeom>
          <a:noFill/>
        </p:spPr>
        <p:txBody>
          <a:bodyPr wrap="square" lIns="0" tIns="0" rIns="0" bIns="0">
            <a:spAutoFit/>
          </a:bodyPr>
          <a:lstStyle/>
          <a:p>
            <a:pPr>
              <a:defRPr sz="1000" b="1">
                <a:solidFill>
                  <a:srgbClr val="00F0FF"/>
                </a:solidFill>
                <a:latin typeface="Space Grotesk"/>
              </a:defRPr>
            </a:pPr>
            <a:r>
              <a:t>ESTRUCTURA DEL PROYECTO</a:t>
            </a:r>
          </a:p>
          <a:p>
            <a:pPr>
              <a:spcBef>
                <a:spcPts val="400"/>
              </a:spcBef>
              <a:defRPr sz="2800" b="1">
                <a:solidFill>
                  <a:srgbClr val="F5F6FA"/>
                </a:solidFill>
                <a:latin typeface="Space Grotesk"/>
              </a:defRPr>
            </a:pPr>
            <a:r>
              <a:t>Repaso del Repositorio de Código en GitHub</a:t>
            </a:r>
          </a:p>
          <a:p>
            <a:pPr>
              <a:spcBef>
                <a:spcPts val="400"/>
              </a:spcBef>
              <a:defRPr sz="1300">
                <a:solidFill>
                  <a:srgbClr val="9AA0B0"/>
                </a:solidFill>
                <a:latin typeface="Arial"/>
              </a:defRPr>
            </a:pPr>
            <a:r>
              <a:t>Organización y contenidos de los archivos reproducibles del proyecto.</a:t>
            </a:r>
          </a:p>
        </p:txBody>
      </p:sp>
      <p:sp>
        <p:nvSpPr>
          <p:cNvPr id="3" name="Rounded Rectangle 2"/>
          <p:cNvSpPr/>
          <p:nvPr/>
        </p:nvSpPr>
        <p:spPr>
          <a:xfrm>
            <a:off x="685800" y="1828800"/>
            <a:ext cx="10817352" cy="4114800"/>
          </a:xfrm>
          <a:prstGeom prst="roundRect">
            <a:avLst/>
          </a:prstGeom>
          <a:solidFill>
            <a:srgbClr val="1A1D26"/>
          </a:solidFill>
          <a:ln>
            <a:solidFill>
              <a:srgbClr val="282C37"/>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00F0FF"/>
                </a:solidFill>
                <a:latin typeface="Space Grotesk"/>
              </a:defRPr>
            </a:pPr>
            <a:r>
              <a:t>ENLACE: https://github.com/Aquiles-ryp360/diseno-ventilador-sirocco</a:t>
            </a:r>
          </a:p>
          <a:p>
            <a:pPr>
              <a:spcBef>
                <a:spcPts val="800"/>
              </a:spcBef>
              <a:defRPr sz="1200">
                <a:solidFill>
                  <a:srgbClr val="F5F6FA"/>
                </a:solidFill>
                <a:latin typeface="Arial"/>
              </a:defRPr>
            </a:pPr>
            <a:r>
              <a:t>📂 00_gestion - Cronogramas y actas de reuniones de diseño.</a:t>
            </a:r>
          </a:p>
          <a:p>
            <a:pPr>
              <a:spcBef>
                <a:spcPts val="800"/>
              </a:spcBef>
              <a:defRPr sz="1200">
                <a:solidFill>
                  <a:srgbClr val="F5F6FA"/>
                </a:solidFill>
                <a:latin typeface="Arial"/>
              </a:defRPr>
            </a:pPr>
            <a:r>
              <a:t>📂 04_bibliografia - Catálogos de fabricantes y libros teóricos sobre ventiladores centrífugos.</a:t>
            </a:r>
          </a:p>
          <a:p>
            <a:pPr>
              <a:spcBef>
                <a:spcPts val="800"/>
              </a:spcBef>
              <a:defRPr sz="1200">
                <a:solidFill>
                  <a:srgbClr val="F5F6FA"/>
                </a:solidFill>
                <a:latin typeface="Arial"/>
              </a:defRPr>
            </a:pPr>
            <a:r>
              <a:t>📂 05_avances - Informes académicos y reportes de progreso del diseño.</a:t>
            </a:r>
          </a:p>
          <a:p>
            <a:pPr>
              <a:spcBef>
                <a:spcPts val="800"/>
              </a:spcBef>
              <a:defRPr sz="1200">
                <a:solidFill>
                  <a:srgbClr val="F5F6FA"/>
                </a:solidFill>
                <a:latin typeface="Arial"/>
              </a:defRPr>
            </a:pPr>
            <a:r>
              <a:t>📂 06_calculos - Memorias de cálculo (memoria_calculo_sirocco_v1.md) y verificaciones del eje.</a:t>
            </a:r>
          </a:p>
          <a:p>
            <a:pPr>
              <a:spcBef>
                <a:spcPts val="800"/>
              </a:spcBef>
              <a:defRPr sz="1200">
                <a:solidFill>
                  <a:srgbClr val="F5F6FA"/>
                </a:solidFill>
                <a:latin typeface="Arial"/>
              </a:defRPr>
            </a:pPr>
            <a:r>
              <a:t>📂 07_planos - Archivos STEP CAD 3D de rotor y DXF 2D para el corte de voluta.</a:t>
            </a:r>
          </a:p>
          <a:p>
            <a:pPr>
              <a:spcBef>
                <a:spcPts val="800"/>
              </a:spcBef>
              <a:defRPr sz="1200">
                <a:solidFill>
                  <a:srgbClr val="F5F6FA"/>
                </a:solidFill>
                <a:latin typeface="Arial"/>
              </a:defRPr>
            </a:pPr>
            <a:r>
              <a:t>📂 08_software - Scripts de simulación en Python / Octave para cálculo de espiral y velocidades.</a:t>
            </a:r>
          </a:p>
          <a:p>
            <a:pPr>
              <a:spcBef>
                <a:spcPts val="800"/>
              </a:spcBef>
              <a:defRPr sz="1200">
                <a:solidFill>
                  <a:srgbClr val="F5F6FA"/>
                </a:solidFill>
                <a:latin typeface="Arial"/>
              </a:defRPr>
            </a:pPr>
            <a:r>
              <a:t>📂 presentacion - Diapositivas web interactivas (HTML, CSS, JS, imágenes).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